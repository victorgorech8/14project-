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2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1273C-0E3E-F74E-EC3D-0A537578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5F8FAD-E4F7-A6DE-7B11-81F36DDC8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940D1-AFBD-76C4-74AC-D69351AF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B2E2D-D1E0-28F5-7000-E9AFD1C7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838A46-DCE0-9768-4220-058DB33D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324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49A30-13C5-EF12-5919-C1FFDA65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6C7F9C-EDB7-9DAF-F5BF-162880EFF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98EB9D-4F66-F607-DBDA-CC2D011D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217C6F-4882-7A9D-F416-29FC9EFA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3625DF-FE13-171C-3758-E6FBF26A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89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045D1-EA35-09EC-141D-DCDEB388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86E6B-64E5-9A9E-BFB1-BD63C2712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EF44F-2821-1288-58B2-697AB44B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F35116-0C85-D852-C25A-F3B19AAE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86E736-CAD5-BC67-1A85-62A7B2AF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39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115ED-0D8A-81A4-2D37-88747380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DD4995-5774-5EFB-B628-CCCD1958F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BAA4D5-9D9C-7E53-A083-CD5002815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40BA58-FF3A-08E1-B55B-5492A3A7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F647C5-76DE-6CC7-BC77-2B0C3999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AE63CD-7189-510D-E3DC-EBF69EE5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20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1E5CC-D826-DA59-4D70-D30DD366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065031-3737-A1CD-E434-C0244A8B8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A17391-D4AD-8CA1-DF8C-BE4E3C420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5A48FA-4CD1-0087-F868-AD5532E64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3E4BE0-FA05-E129-4D3F-F83195325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48B9CB-6949-29C0-E3DA-0BF82789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6A07C2-B989-C8D2-E939-D264FE48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1414A9-2832-4F72-95BD-63A61725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1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810EC-0C37-23F5-4F13-63309A1F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4164F4-2200-C768-8640-D73111F8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146C42-7736-9D0A-63A4-D24DF710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BE6ECA-FC3B-CB5C-C57E-4756D138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04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736F9B-8B87-EE74-2A0B-B0C0C158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6E0C7D-4C46-F0D7-4763-D1E6018D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A93CCE-EE55-AB04-6838-66E1F619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4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A360E-074F-EB3C-F267-5BF4A912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AFEB73-6652-F581-A2FD-4B43C2DB1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29B35F-1119-4AFD-7FD7-D63057DE6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B97257-2F2E-54A7-1589-A479FA96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F9F7D7-32BE-17D0-43B2-22FD43D2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D55180-3F83-E256-6799-CBDE872F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E91DC-5689-8E0B-36F2-ED01B2372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A0A18D-6B5A-ECC9-BEC4-5243ABF94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D12CB7-223E-3DC6-B93D-F7B5F4EE1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9ED0A2-33A5-D11A-2BBB-0582603E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C2776F-920A-1EEC-BC22-96BF80B4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0D9C2D-C117-DBA7-E4BA-84E59344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84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C1122-B66E-B22B-CB96-548AF885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260995-2785-9A71-4AA1-341A10540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0D5273-E874-CB3B-1324-7C89D04D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CE308E-D70D-C100-C2DF-BCA52929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482451-CF05-56FA-0C91-D52A6F5F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19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1EFA33-BF10-BB83-6B36-80A744F8C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1B0C6-20C7-D817-CD66-98F002F01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1F5012-DB7C-5CC1-7CA8-89815484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E9D70-7CED-F028-400F-E07B739A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A6FE49-CC70-7460-8563-ADB5B34D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79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A4AC7-2053-83E5-3BDA-8E4C9F6F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257CA8-C6CA-2F23-3830-94D0D33D7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E1E3DD-DC3E-22EC-BD4F-D632A3A6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23045-E5D5-4D15-AFA5-6E0450B60BF9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5F238-A315-C6C9-288F-97B12F6F7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E0BA8-A3BB-BF35-0AF9-7C9248517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C3E34-18FE-415F-8E1F-4D7783A51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85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681542F6-79B4-FAE2-8262-FFC9BAD36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8B8A2197-63AE-E8FF-FB5B-201677A0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03" y="698927"/>
            <a:ext cx="57246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0213" algn="ctr"/>
                <a:tab pos="60515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0213" algn="ctr"/>
                <a:tab pos="6051550" algn="r"/>
              </a:tabLs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МИНОБРНАУКИ РОССИИ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0213" algn="ctr"/>
                <a:tab pos="6051550" algn="r"/>
              </a:tabLs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0213" algn="ctr"/>
                <a:tab pos="6051550" algn="r"/>
              </a:tabLs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высшего образования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0213" algn="ctr"/>
                <a:tab pos="6051550" algn="r"/>
              </a:tabLs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„Национальный исследовательский университет „Высшая школа экономики“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B5FDE359-16D9-72DF-4312-A466DC5F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59" y="1617762"/>
            <a:ext cx="25494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70A2A-69A4-1DC1-8540-0075BD12DC3E}"/>
              </a:ext>
            </a:extLst>
          </p:cNvPr>
          <p:cNvSpPr txBox="1"/>
          <p:nvPr/>
        </p:nvSpPr>
        <p:spPr>
          <a:xfrm>
            <a:off x="3048718" y="2761019"/>
            <a:ext cx="6094562" cy="32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КУРСОВАЯ </a:t>
            </a:r>
            <a:r>
              <a:rPr lang="ru-RU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РАБОТА</a:t>
            </a:r>
            <a:endParaRPr lang="ru-RU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A3CDAC97-49DD-BD0D-6E6B-AF6D9A5C1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798" y="3193126"/>
            <a:ext cx="6798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Биржевая и внебиржевая торговля,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оптимизация портфеля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DC9AF8D9-88CD-117F-2E5C-C16903066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837" y="6430477"/>
            <a:ext cx="41279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Новосибирск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2025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353D94AB-C1FC-C7B2-DCBC-D68EFF0B7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45360"/>
              </p:ext>
            </p:extLst>
          </p:nvPr>
        </p:nvGraphicFramePr>
        <p:xfrm>
          <a:off x="820585" y="4453255"/>
          <a:ext cx="6627965" cy="853440"/>
        </p:xfrm>
        <a:graphic>
          <a:graphicData uri="http://schemas.openxmlformats.org/drawingml/2006/table">
            <a:tbl>
              <a:tblPr firstRow="1" firstCol="1" bandRow="1"/>
              <a:tblGrid>
                <a:gridCol w="2223402">
                  <a:extLst>
                    <a:ext uri="{9D8B030D-6E8A-4147-A177-3AD203B41FA5}">
                      <a16:colId xmlns:a16="http://schemas.microsoft.com/office/drawing/2014/main" val="3099511532"/>
                    </a:ext>
                  </a:extLst>
                </a:gridCol>
                <a:gridCol w="1627073">
                  <a:extLst>
                    <a:ext uri="{9D8B030D-6E8A-4147-A177-3AD203B41FA5}">
                      <a16:colId xmlns:a16="http://schemas.microsoft.com/office/drawing/2014/main" val="869454654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3160197198"/>
                    </a:ext>
                  </a:extLst>
                </a:gridCol>
              </a:tblGrid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Исполнитель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Студент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Команда № 106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Виктор Алексеевич Горюнов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8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Научный руководитель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Александра Ковалева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999495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C06C6C6-FA35-0A9E-1ECC-DFDF3898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C1CB4-143D-42C4-BAC3-1CC823139A05}" type="slidenum">
              <a:rPr lang="ru-RU" smtClean="0"/>
              <a:t>1</a:t>
            </a:fld>
            <a:endParaRPr lang="ru-RU"/>
          </a:p>
        </p:txBody>
      </p:sp>
      <p:pic>
        <p:nvPicPr>
          <p:cNvPr id="4" name="Рисунок 3" descr="Изображение выглядит как Шрифт, символ, логотип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D9B6A3-2A0E-B7CC-8F2C-EEFEA52E0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385" y="22740"/>
            <a:ext cx="649225" cy="65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0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Задачи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AEC8EC-7935-7657-D0A3-3F680BE5D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729" y="736575"/>
            <a:ext cx="8354591" cy="598253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41C6E9-0A02-1B21-A928-5335943B0795}"/>
              </a:ext>
            </a:extLst>
          </p:cNvPr>
          <p:cNvSpPr/>
          <p:nvPr/>
        </p:nvSpPr>
        <p:spPr>
          <a:xfrm>
            <a:off x="5598159" y="714863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455188-28B5-8E43-F15C-261A26CD3F86}"/>
              </a:ext>
            </a:extLst>
          </p:cNvPr>
          <p:cNvSpPr/>
          <p:nvPr/>
        </p:nvSpPr>
        <p:spPr>
          <a:xfrm>
            <a:off x="7528559" y="723044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C1C482D-73CD-8C21-A9DF-32DE6E2CEC0F}"/>
              </a:ext>
            </a:extLst>
          </p:cNvPr>
          <p:cNvSpPr/>
          <p:nvPr/>
        </p:nvSpPr>
        <p:spPr>
          <a:xfrm>
            <a:off x="9724654" y="723044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734D734-31EE-7CEE-0C16-1F0DB733C262}"/>
              </a:ext>
            </a:extLst>
          </p:cNvPr>
          <p:cNvSpPr/>
          <p:nvPr/>
        </p:nvSpPr>
        <p:spPr>
          <a:xfrm>
            <a:off x="6431279" y="1822303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3D6DCC-1AE6-DE07-121E-A265EAFFFF02}"/>
              </a:ext>
            </a:extLst>
          </p:cNvPr>
          <p:cNvSpPr/>
          <p:nvPr/>
        </p:nvSpPr>
        <p:spPr>
          <a:xfrm>
            <a:off x="8635999" y="1822303"/>
            <a:ext cx="127000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228F26-1BC6-4D89-444A-B96ECFED36A1}"/>
              </a:ext>
            </a:extLst>
          </p:cNvPr>
          <p:cNvSpPr/>
          <p:nvPr/>
        </p:nvSpPr>
        <p:spPr>
          <a:xfrm>
            <a:off x="5598159" y="2664042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7AF03F6-2720-6368-7FA7-AD3DD542EA9E}"/>
              </a:ext>
            </a:extLst>
          </p:cNvPr>
          <p:cNvSpPr/>
          <p:nvPr/>
        </p:nvSpPr>
        <p:spPr>
          <a:xfrm>
            <a:off x="7620000" y="2664042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1BE4C9-E79E-1A09-5C88-98CD771A0924}"/>
              </a:ext>
            </a:extLst>
          </p:cNvPr>
          <p:cNvSpPr/>
          <p:nvPr/>
        </p:nvSpPr>
        <p:spPr>
          <a:xfrm>
            <a:off x="5598158" y="3505781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33F25E8-1C31-5658-8C37-662C0CE36B19}"/>
              </a:ext>
            </a:extLst>
          </p:cNvPr>
          <p:cNvSpPr/>
          <p:nvPr/>
        </p:nvSpPr>
        <p:spPr>
          <a:xfrm>
            <a:off x="7641087" y="3444782"/>
            <a:ext cx="1350513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EFE8345-F3D6-D152-B5A1-FE12B1211755}"/>
              </a:ext>
            </a:extLst>
          </p:cNvPr>
          <p:cNvSpPr/>
          <p:nvPr/>
        </p:nvSpPr>
        <p:spPr>
          <a:xfrm>
            <a:off x="9906000" y="3444782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60C3752-E18E-CE6D-F96B-E32A9ED7FF6F}"/>
              </a:ext>
            </a:extLst>
          </p:cNvPr>
          <p:cNvSpPr/>
          <p:nvPr/>
        </p:nvSpPr>
        <p:spPr>
          <a:xfrm>
            <a:off x="4307070" y="4241696"/>
            <a:ext cx="1413010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9F2084-0E50-726B-CAAC-AAFAE61FD95E}"/>
              </a:ext>
            </a:extLst>
          </p:cNvPr>
          <p:cNvSpPr/>
          <p:nvPr/>
        </p:nvSpPr>
        <p:spPr>
          <a:xfrm>
            <a:off x="6786879" y="4347520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666B7A7-A1CC-A006-F769-9582625653A1}"/>
              </a:ext>
            </a:extLst>
          </p:cNvPr>
          <p:cNvSpPr/>
          <p:nvPr/>
        </p:nvSpPr>
        <p:spPr>
          <a:xfrm>
            <a:off x="8329573" y="4407941"/>
            <a:ext cx="1576427" cy="3941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382DBCA-2EFB-2886-1F24-E24D17D5265B}"/>
              </a:ext>
            </a:extLst>
          </p:cNvPr>
          <p:cNvSpPr/>
          <p:nvPr/>
        </p:nvSpPr>
        <p:spPr>
          <a:xfrm>
            <a:off x="6065519" y="5125157"/>
            <a:ext cx="10871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7826AC3-CFB2-B6BF-AC53-BB97F0D6E5DB}"/>
              </a:ext>
            </a:extLst>
          </p:cNvPr>
          <p:cNvSpPr/>
          <p:nvPr/>
        </p:nvSpPr>
        <p:spPr>
          <a:xfrm>
            <a:off x="7528559" y="5113580"/>
            <a:ext cx="1350513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800F72E-6E53-6B8B-F74C-B7702BC2C84F}"/>
              </a:ext>
            </a:extLst>
          </p:cNvPr>
          <p:cNvSpPr/>
          <p:nvPr/>
        </p:nvSpPr>
        <p:spPr>
          <a:xfrm>
            <a:off x="8991600" y="5125156"/>
            <a:ext cx="1188721" cy="515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73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Описание данных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9BC8EBC-87FE-CCF0-2375-EA746D58E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855785"/>
              </p:ext>
            </p:extLst>
          </p:nvPr>
        </p:nvGraphicFramePr>
        <p:xfrm>
          <a:off x="1051560" y="1213539"/>
          <a:ext cx="10088880" cy="4397227"/>
        </p:xfrm>
        <a:graphic>
          <a:graphicData uri="http://schemas.openxmlformats.org/drawingml/2006/table">
            <a:tbl>
              <a:tblPr/>
              <a:tblGrid>
                <a:gridCol w="3362960">
                  <a:extLst>
                    <a:ext uri="{9D8B030D-6E8A-4147-A177-3AD203B41FA5}">
                      <a16:colId xmlns:a16="http://schemas.microsoft.com/office/drawing/2014/main" val="2101559594"/>
                    </a:ext>
                  </a:extLst>
                </a:gridCol>
                <a:gridCol w="3362960">
                  <a:extLst>
                    <a:ext uri="{9D8B030D-6E8A-4147-A177-3AD203B41FA5}">
                      <a16:colId xmlns:a16="http://schemas.microsoft.com/office/drawing/2014/main" val="516429372"/>
                    </a:ext>
                  </a:extLst>
                </a:gridCol>
                <a:gridCol w="3362960">
                  <a:extLst>
                    <a:ext uri="{9D8B030D-6E8A-4147-A177-3AD203B41FA5}">
                      <a16:colId xmlns:a16="http://schemas.microsoft.com/office/drawing/2014/main" val="1093790383"/>
                    </a:ext>
                  </a:extLst>
                </a:gridCol>
              </a:tblGrid>
              <a:tr h="996153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BOARDID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площадки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Идентификатор торговой площадки (например: TQBR - Типовая секция Московской биржи акциями)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12861"/>
                  </a:ext>
                </a:extLst>
              </a:tr>
              <a:tr h="42490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TRADEDATE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торгов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Календарная дата проведения торгов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0784"/>
                  </a:ext>
                </a:extLst>
              </a:tr>
              <a:tr h="42490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SHORTNAME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Краткое название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Сокращенное наименование компании-эмитента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44976"/>
                  </a:ext>
                </a:extLst>
              </a:tr>
              <a:tr h="615323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SECID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Тикер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Биржевой идентификатор ценной бумаги (торговый код)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23354"/>
                  </a:ext>
                </a:extLst>
              </a:tr>
              <a:tr h="520115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NUMTRADES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сделок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Общее число совершенных сделок за торговый день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3350"/>
                  </a:ext>
                </a:extLst>
              </a:tr>
              <a:tr h="520115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Оборот (руб.)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Суммарный денежный оборот в рублях за день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72311"/>
                  </a:ext>
                </a:extLst>
              </a:tr>
              <a:tr h="520115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открытия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Первая зарегистрированная цена в начале торгового дня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884427"/>
                  </a:ext>
                </a:extLst>
              </a:tr>
              <a:tr h="329700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736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цена</a:t>
                      </a:r>
                    </a:p>
                  </a:txBody>
                  <a:tcPr marL="35262" marR="35262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Самая низкая цена сделки в течение дня</a:t>
                      </a:r>
                    </a:p>
                  </a:txBody>
                  <a:tcPr marL="35262" marR="31736" marT="22039" marB="22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8648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DB7A6BF-5A7D-5A2E-C510-DE9F9DDAF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81369"/>
              </p:ext>
            </p:extLst>
          </p:nvPr>
        </p:nvGraphicFramePr>
        <p:xfrm>
          <a:off x="934722" y="1450116"/>
          <a:ext cx="10205718" cy="4351338"/>
        </p:xfrm>
        <a:graphic>
          <a:graphicData uri="http://schemas.openxmlformats.org/drawingml/2006/table">
            <a:tbl>
              <a:tblPr/>
              <a:tblGrid>
                <a:gridCol w="3401906">
                  <a:extLst>
                    <a:ext uri="{9D8B030D-6E8A-4147-A177-3AD203B41FA5}">
                      <a16:colId xmlns:a16="http://schemas.microsoft.com/office/drawing/2014/main" val="2447484320"/>
                    </a:ext>
                  </a:extLst>
                </a:gridCol>
                <a:gridCol w="3401906">
                  <a:extLst>
                    <a:ext uri="{9D8B030D-6E8A-4147-A177-3AD203B41FA5}">
                      <a16:colId xmlns:a16="http://schemas.microsoft.com/office/drawing/2014/main" val="1950070696"/>
                    </a:ext>
                  </a:extLst>
                </a:gridCol>
                <a:gridCol w="3401906">
                  <a:extLst>
                    <a:ext uri="{9D8B030D-6E8A-4147-A177-3AD203B41FA5}">
                      <a16:colId xmlns:a16="http://schemas.microsoft.com/office/drawing/2014/main" val="3550141821"/>
                    </a:ext>
                  </a:extLst>
                </a:gridCol>
              </a:tblGrid>
              <a:tr h="542791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цена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Самая высокая цена сделки в течение дня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875478"/>
                  </a:ext>
                </a:extLst>
              </a:tr>
              <a:tr h="786034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закрытия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последней сделки в конце торговой сессии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469663"/>
                  </a:ext>
                </a:extLst>
              </a:tr>
              <a:tr h="664412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(шт.)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проданных/купленных акций в штуках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655592"/>
                  </a:ext>
                </a:extLst>
              </a:tr>
              <a:tr h="786034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WAPRICE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Средневзвешенная цена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Price (цена, взвешенная по объему сделок)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078666"/>
                  </a:ext>
                </a:extLst>
              </a:tr>
              <a:tr h="907655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LEGALCLOSEPRICE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Официальная цена закрытия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закрытия, используемая для официальных расчетов и индексов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074230"/>
                  </a:ext>
                </a:extLst>
              </a:tr>
              <a:tr h="664412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ADMITTEDQUOTE</a:t>
                      </a:r>
                      <a:endParaRPr lang="en-US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540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Допустимая котировка</a:t>
                      </a:r>
                    </a:p>
                  </a:txBody>
                  <a:tcPr marL="45045" marR="45045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Котировка, используемая для расчета индексов (при наличии)</a:t>
                      </a:r>
                    </a:p>
                  </a:txBody>
                  <a:tcPr marL="45045" marR="40540" marT="28153" marB="281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54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58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97D788C4-C0DA-DE4D-AF45-B60C46FE1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3504" y="1766655"/>
            <a:ext cx="3658111" cy="332468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00008B"/>
                </a:solidFill>
                <a:latin typeface="Arial" panose="020B0604020202020204" pitchFamily="34" charset="0"/>
              </a:rPr>
              <a:t>EDA</a:t>
            </a:r>
            <a:endParaRPr lang="ru-RU" sz="2800" b="1" dirty="0">
              <a:solidFill>
                <a:srgbClr val="00008B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7D6BB9-8064-B49D-A9C9-706AAA4C0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5639"/>
            <a:ext cx="12192000" cy="60916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97BBCC-24EF-0A2A-D6AC-A69BD3B45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9" y="740594"/>
            <a:ext cx="7006005" cy="342084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82061C1-D1AA-E7D0-933F-3B33EFDD6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2294" y="2791549"/>
            <a:ext cx="8175948" cy="38829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52FB1A-AE0F-051F-3F71-B364C8CC2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246" y="773820"/>
            <a:ext cx="7468642" cy="518232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7986A6A-B342-A879-B66A-B9B048B6AF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7856" y="773820"/>
            <a:ext cx="7521538" cy="371760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A08E2B-2005-CEB3-9E83-03773E6453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379" y="2866769"/>
            <a:ext cx="8379706" cy="344857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1017E-C1C1-6312-C264-8B0D8BEC16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073" y="1180786"/>
            <a:ext cx="8449854" cy="4496427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снимок экрана, линия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FC0EEC-C8BC-78C6-0862-D5DD73AC3D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889" y="382476"/>
            <a:ext cx="7380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3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E245882-B4C4-97A3-1A1A-7D7580A53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442"/>
            <a:ext cx="10515600" cy="5323521"/>
          </a:xfrm>
        </p:spPr>
        <p:txBody>
          <a:bodyPr/>
          <a:lstStyle/>
          <a:p>
            <a:r>
              <a:rPr lang="ru-RU" dirty="0"/>
              <a:t>Планируется посмотреть за доходность портфеля, полученного в ходе курсовой работы, и сравнивать ее с доходностями других портфелей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Метрики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40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245882-B4C4-97A3-1A1A-7D7580A531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53442"/>
                <a:ext cx="10515600" cy="5323521"/>
              </a:xfrm>
            </p:spPr>
            <p:txBody>
              <a:bodyPr/>
              <a:lstStyle/>
              <a:p>
                <a:r>
                  <a:rPr lang="ru-RU" dirty="0"/>
                  <a:t>Метод </a:t>
                </a:r>
                <a:r>
                  <a:rPr lang="en-US" dirty="0"/>
                  <a:t>K-means </a:t>
                </a:r>
                <a:r>
                  <a:rPr lang="ru-RU" dirty="0"/>
                  <a:t>с расстоянием </a:t>
                </a:r>
              </a:p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ru-RU" i="1" dirty="0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/>
                        </m:sSub>
                        <m:r>
                          <a:rPr lang="ru-RU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ru-RU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/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⋯</m:t>
                            </m:r>
                          </m:sub>
                          <m:sup/>
                        </m:sSubSup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⋯</m:t>
                        </m:r>
                      </m:sub>
                      <m:sup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245882-B4C4-97A3-1A1A-7D7580A53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53442"/>
                <a:ext cx="10515600" cy="5323521"/>
              </a:xfrm>
              <a:blipFill>
                <a:blip r:embed="rId2"/>
                <a:stretch>
                  <a:fillRect l="-1043" t="-1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Стартовое решение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08EFEC-B0CB-E34A-55C0-295E1C0FC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241003"/>
            <a:ext cx="6450601" cy="39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9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Улучшенное решение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Объект 9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34BF908-C6CB-E683-4163-136C5717D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34194"/>
            <a:ext cx="9291170" cy="5277706"/>
          </a:xfrm>
        </p:spPr>
      </p:pic>
    </p:spTree>
    <p:extLst>
      <p:ext uri="{BB962C8B-B14F-4D97-AF65-F5344CB8AC3E}">
        <p14:creationId xmlns:p14="http://schemas.microsoft.com/office/powerpoint/2010/main" val="413520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Сервисная часть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BCBB84-9152-30D1-B4F3-411AC0B5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04988"/>
            <a:ext cx="5307284" cy="20666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A717D4-1000-061A-46A3-8B5E786D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84" y="3327006"/>
            <a:ext cx="5507337" cy="2729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6FED9C-A74C-3082-F2F9-FAAE67E38ACB}"/>
              </a:ext>
            </a:extLst>
          </p:cNvPr>
          <p:cNvSpPr txBox="1"/>
          <p:nvPr/>
        </p:nvSpPr>
        <p:spPr>
          <a:xfrm>
            <a:off x="6482080" y="1104988"/>
            <a:ext cx="395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“/”</a:t>
            </a:r>
          </a:p>
          <a:p>
            <a:pPr marL="342900" indent="-342900">
              <a:buAutoNum type="arabicPeriod"/>
            </a:pPr>
            <a:r>
              <a:rPr lang="en-US" dirty="0"/>
              <a:t>“/forward”</a:t>
            </a:r>
          </a:p>
          <a:p>
            <a:pPr marL="342900" indent="-342900">
              <a:buAutoNum type="arabicPeriod"/>
            </a:pPr>
            <a:r>
              <a:rPr lang="en-US" dirty="0"/>
              <a:t>“/history”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300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Распределение ролей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FF8A74C-E743-6324-4798-F7E21E96A0C5}"/>
              </a:ext>
            </a:extLst>
          </p:cNvPr>
          <p:cNvSpPr/>
          <p:nvPr/>
        </p:nvSpPr>
        <p:spPr>
          <a:xfrm>
            <a:off x="3282099" y="1788049"/>
            <a:ext cx="5627801" cy="1532334"/>
          </a:xfrm>
          <a:prstGeom prst="roundRect">
            <a:avLst/>
          </a:prstGeom>
          <a:solidFill>
            <a:srgbClr val="E6FFC8">
              <a:alpha val="8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ru-RU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ХОДУ СЕМЕСТРА В КОМАНДЕ ОСТАЛСЯ ОДИН УЧАСТНИК!</a:t>
            </a:r>
          </a:p>
        </p:txBody>
      </p:sp>
    </p:spTree>
    <p:extLst>
      <p:ext uri="{BB962C8B-B14F-4D97-AF65-F5344CB8AC3E}">
        <p14:creationId xmlns:p14="http://schemas.microsoft.com/office/powerpoint/2010/main" val="43296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21D81-4ECF-A1B5-78B7-41040A6976A4}"/>
              </a:ext>
            </a:extLst>
          </p:cNvPr>
          <p:cNvSpPr txBox="1"/>
          <p:nvPr/>
        </p:nvSpPr>
        <p:spPr>
          <a:xfrm>
            <a:off x="635000" y="183462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 dirty="0">
                <a:solidFill>
                  <a:srgbClr val="00008B"/>
                </a:solidFill>
                <a:latin typeface="Arial" panose="020B0604020202020204" pitchFamily="34" charset="0"/>
              </a:rPr>
              <a:t>План работы на следующий семестр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C6FCB-F493-C13B-6586-0127BFA0AE14}"/>
              </a:ext>
            </a:extLst>
          </p:cNvPr>
          <p:cNvCxnSpPr/>
          <p:nvPr/>
        </p:nvCxnSpPr>
        <p:spPr>
          <a:xfrm>
            <a:off x="635000" y="698500"/>
            <a:ext cx="7620000" cy="0"/>
          </a:xfrm>
          <a:prstGeom prst="line">
            <a:avLst/>
          </a:prstGeom>
          <a:ln w="25400">
            <a:solidFill>
              <a:srgbClr val="0000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E67790-631E-BE9A-BE11-38915EA3FF2B}"/>
              </a:ext>
            </a:extLst>
          </p:cNvPr>
          <p:cNvSpPr/>
          <p:nvPr/>
        </p:nvSpPr>
        <p:spPr>
          <a:xfrm>
            <a:off x="690880" y="1119317"/>
            <a:ext cx="4229100" cy="1574800"/>
          </a:xfrm>
          <a:prstGeom prst="rect">
            <a:avLst/>
          </a:prstGeom>
          <a:solidFill>
            <a:srgbClr val="F1FF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Улучшить бэкенд приложения (написать на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Rust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4D5DC0-4A47-C107-487E-1ED442C88385}"/>
              </a:ext>
            </a:extLst>
          </p:cNvPr>
          <p:cNvSpPr/>
          <p:nvPr/>
        </p:nvSpPr>
        <p:spPr>
          <a:xfrm>
            <a:off x="7473950" y="1119317"/>
            <a:ext cx="4229100" cy="1574800"/>
          </a:xfrm>
          <a:prstGeom prst="rect">
            <a:avLst/>
          </a:prstGeom>
          <a:solidFill>
            <a:srgbClr val="F1FF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и тестирование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AEB03BC-18B4-5FBA-F89D-38C94D044C8F}"/>
              </a:ext>
            </a:extLst>
          </p:cNvPr>
          <p:cNvSpPr/>
          <p:nvPr/>
        </p:nvSpPr>
        <p:spPr>
          <a:xfrm>
            <a:off x="3981450" y="3376484"/>
            <a:ext cx="4229100" cy="1574800"/>
          </a:xfrm>
          <a:prstGeom prst="rect">
            <a:avLst/>
          </a:prstGeom>
          <a:solidFill>
            <a:srgbClr val="E8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полученных данных внести корректировки в модель в соответствии правилом портфеля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Марковица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13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1D3922D2-1D1D-8818-9832-13CF9A35BFF1}"/>
              </a:ext>
            </a:extLst>
          </p:cNvPr>
          <p:cNvSpPr/>
          <p:nvPr/>
        </p:nvSpPr>
        <p:spPr>
          <a:xfrm>
            <a:off x="1905000" y="635000"/>
            <a:ext cx="5080000" cy="5080000"/>
          </a:xfrm>
          <a:prstGeom prst="ellips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65321-4775-D8BF-97CB-ABBD62F4A760}"/>
              </a:ext>
            </a:extLst>
          </p:cNvPr>
          <p:cNvSpPr txBox="1"/>
          <p:nvPr/>
        </p:nvSpPr>
        <p:spPr>
          <a:xfrm>
            <a:off x="1701800" y="3044279"/>
            <a:ext cx="754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0000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770BBA-4FBE-7804-4673-0E1FA562462D}"/>
              </a:ext>
            </a:extLst>
          </p:cNvPr>
          <p:cNvSpPr/>
          <p:nvPr/>
        </p:nvSpPr>
        <p:spPr>
          <a:xfrm>
            <a:off x="9500667" y="1046836"/>
            <a:ext cx="684240" cy="409102"/>
          </a:xfrm>
          <a:prstGeom prst="rect">
            <a:avLst/>
          </a:prstGeom>
          <a:solidFill>
            <a:srgbClr val="0000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008B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0DD900-C87A-73AB-4552-E9643CFF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C1CB4-143D-42C4-BAC3-1CC823139A0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36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076 -0.15255 L 0.13985 0.31759 " pathEditMode="relative" rAng="0" ptsTypes="AA">
                                      <p:cBhvr>
                                        <p:cTn id="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6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86 0.31296 C -0.02708 0.31574 -0.0207 0.30717 -0.01588 0.30486 C -0.01107 0.30231 -0.0069 0.32453 0.0013 0.29815 C 0.01797 0.29815 0.00547 0.1743 0.02565 0.17315 C 0.04336 0.17315 0.02813 0.33287 0.04531 0.33217 C 0.06354 0.33217 0.07513 0.13102 0.08281 0.13032 C 0.09037 0.12893 0.08529 0.30324 0.09167 0.32615 C 0.09792 0.34907 0.10651 0.02986 0.12057 0.02986 C 0.12774 0.02986 0.12813 0.28773 0.12982 0.30555 " pathEditMode="relative" rAng="0" ptsTypes="AAAAAAAAA">
                                      <p:cBhvr>
                                        <p:cTn id="9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78" y="-1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300</Words>
  <Application>Microsoft Office PowerPoint</Application>
  <PresentationFormat>Широкоэкранный</PresentationFormat>
  <Paragraphs>79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горюнов</dc:creator>
  <cp:lastModifiedBy>алексей горюнов</cp:lastModifiedBy>
  <cp:revision>1</cp:revision>
  <dcterms:created xsi:type="dcterms:W3CDTF">2026-01-09T14:16:23Z</dcterms:created>
  <dcterms:modified xsi:type="dcterms:W3CDTF">2026-01-10T06:27:32Z</dcterms:modified>
</cp:coreProperties>
</file>